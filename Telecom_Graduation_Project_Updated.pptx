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77" r:id="rId22"/>
    <p:sldId id="273" r:id="rId23"/>
    <p:sldId id="274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743200"/>
            <a:ext cx="2011680" cy="2011680"/>
          </a:xfrm>
          <a:prstGeom prst="ellipse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57200"/>
            <a:ext cx="182880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GRADUATION 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Telecom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 Management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50292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F0"/>
                </a:solidFill>
              </a:rPr>
              <a:t>• Abdelrahman Magdy Abdelwahed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7355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F0"/>
                </a:solidFill>
              </a:rPr>
              <a:t>• Fatma El-Zahraa Ahmed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F0"/>
                </a:solidFill>
              </a:rPr>
              <a:t>• Marvy Adel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F0"/>
                </a:solidFill>
              </a:rPr>
              <a:t>• Nada Saad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327355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F0"/>
                </a:solidFill>
              </a:rPr>
              <a:t>• Makrina Emad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352958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5F0"/>
                </a:solidFill>
              </a:rPr>
              <a:t>• Myriam Fayez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8CAD"/>
                </a:solidFill>
              </a:rPr>
              <a:t>Faculty of Computers &amp; Information  |  May 21, 2025  |  ServiceNow PDI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36245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618488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Challenges in telecom operations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2082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20824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0574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31343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Goals &amp; outcomes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71576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15768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15768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275234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Solution Architecture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3008376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High-level system design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41071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410712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10712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4472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Data Model &amp; Security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370332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Tables, roles, ACLs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10565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105656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05656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" y="41422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Forms, Scripts &amp; Automation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439826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UI, flows &amp; business rules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32588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325880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325880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4648" y="136245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SLA + Notifications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84648" y="1618488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Service levels &amp; alerts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02082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020824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020824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84648" y="20574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Service Portal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84648" y="231343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Customer-facing portal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71576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715768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715768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84648" y="275234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Reports &amp; Dashboard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84648" y="3008376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KPI monitoring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41071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410712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410712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84648" y="34472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End-to-End Demo Scenarios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84648" y="3703320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Live walk-through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410565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4105656"/>
            <a:ext cx="411480" cy="5669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4105656"/>
            <a:ext cx="411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84648" y="41422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Challenges &amp; Conclusion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84648" y="4398264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0B7"/>
                </a:solidFill>
              </a:rPr>
              <a:t>Learnings &amp; achievements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in Telecom Operations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100584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990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Manual Processes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2EE"/>
                </a:solidFill>
              </a:rPr>
              <a:t>Complaint &amp; outage management handled via spreadsheets with no automation.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114800" cy="100584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877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No SLA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89864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2EE"/>
                </a:solidFill>
              </a:rPr>
              <a:t>Resolution deadlines missed; no system to monitor or enforce SLAs.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4114800" cy="100584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0332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76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Siloed Teams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40873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2EE"/>
                </a:solidFill>
              </a:rPr>
              <a:t>Customer service, network ops, and field engineers work in isolation.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4114800" cy="100584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2588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3990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Poor Visibility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170992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2EE"/>
                </a:solidFill>
              </a:rPr>
              <a:t>Managers lack real-time dashboards or KPI reports.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514600"/>
            <a:ext cx="4114800" cy="100584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51460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25877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No Self-Service Portal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289864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2EE"/>
                </a:solidFill>
              </a:rPr>
              <a:t>Customers cannot register, raise complaints, or track status online.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703320"/>
            <a:ext cx="4114800" cy="100584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70332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776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</a:rPr>
              <a:t>Lack of Notifications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40873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2EE"/>
                </a:solidFill>
              </a:rPr>
              <a:t>Stakeholders are not alerted when key events occur in the system.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 &amp; Goals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42646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Build a Scoped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1700784"/>
            <a:ext cx="3429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Develop a ServiceNow scoped application (x_telcom_ops) covering the full telecom operations lifecycle.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63347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334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2596896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Customer Self-Service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9848" y="2871216"/>
            <a:ext cx="3429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Enable customers to register, raise complaints &amp; track status via a Service Portal.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94176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0390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039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376732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Automated Workflows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" y="4041648"/>
            <a:ext cx="3429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Use Flow Designer to automate incident creation, engineer task dispatch &amp; SLA triggers.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135331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463040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4630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8968" y="142646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Security &amp; Roles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58968" y="1700784"/>
            <a:ext cx="3429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Implement ACLs, roles, and groups to enforce data access control across teams.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252374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263347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6334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58968" y="2596896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SLA &amp; Notifications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58968" y="2871216"/>
            <a:ext cx="3429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Monitor resolution times with SLAs and trigger email notifications on key events.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3694176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380390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8039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58968" y="376732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KPI Dashboards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58968" y="4041648"/>
            <a:ext cx="3429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Provide real-time reports and dashboards for operations managers.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Overview —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25880"/>
            <a:ext cx="2011680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1435608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Service Portal  •  Forms  •  Dashboards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103120"/>
            <a:ext cx="0" cy="228600"/>
          </a:xfrm>
          <a:prstGeom prst="line">
            <a:avLst/>
          </a:prstGeom>
          <a:noFill/>
          <a:ln w="19050">
            <a:solidFill>
              <a:srgbClr val="90A0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33172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31720"/>
            <a:ext cx="20116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3172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Logic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441448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Client Scripts  •  Business Rules  •  Flow Designer  •  Script Includes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108960"/>
            <a:ext cx="0" cy="228600"/>
          </a:xfrm>
          <a:prstGeom prst="line">
            <a:avLst/>
          </a:prstGeom>
          <a:noFill/>
          <a:ln w="19050">
            <a:solidFill>
              <a:srgbClr val="90A0B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3756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337560"/>
            <a:ext cx="201168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3756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447288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Custom Tables  •  ITSM Tables  •  ACLs  •  Roles &amp; Groups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297680"/>
            <a:ext cx="7955280" cy="594360"/>
          </a:xfrm>
          <a:prstGeom prst="rect">
            <a:avLst/>
          </a:prstGeom>
          <a:solidFill>
            <a:srgbClr val="EEF5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4297680"/>
            <a:ext cx="7955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65C0"/>
                </a:solidFill>
              </a:rPr>
              <a:t>ServiceNow PDI  |  Scope: x_telcom_ops  |  Platform: ServiceNow Fundamentals + Development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 — Custom Tables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380744"/>
            <a:ext cx="804672" cy="201168"/>
          </a:xfrm>
          <a:prstGeom prst="rect">
            <a:avLst/>
          </a:prstGeom>
          <a:solidFill>
            <a:srgbClr val="90A0B7"/>
          </a:solidFill>
          <a:ln w="12700">
            <a:solidFill>
              <a:srgbClr val="90A0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380744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extends None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67512" y="138074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x_telcom_customer_profile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1673352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Stores customer details, service plan reference &amp; user account link.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96312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551176"/>
            <a:ext cx="804672" cy="201168"/>
          </a:xfrm>
          <a:prstGeom prst="rect">
            <a:avLst/>
          </a:prstGeom>
          <a:solidFill>
            <a:srgbClr val="90A0B7"/>
          </a:solidFill>
          <a:ln w="12700">
            <a:solidFill>
              <a:srgbClr val="90A0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551176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extends None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67512" y="25511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x_telcom_service_plan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2843784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Telecom plans catalog (Mobile, Broadband, Fiber) with pricing.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6674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666744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3721608"/>
            <a:ext cx="804672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72160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extends Task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67512" y="3721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x_telcom_complaint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" y="4014216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Full complaint lifecycle; extends Task table for workflow fields.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1325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325880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1380744"/>
            <a:ext cx="804672" cy="201168"/>
          </a:xfrm>
          <a:prstGeom prst="rect">
            <a:avLst/>
          </a:prstGeom>
          <a:solidFill>
            <a:srgbClr val="90A0B7"/>
          </a:solidFill>
          <a:ln w="12700">
            <a:solidFill>
              <a:srgbClr val="90A0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380744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extends None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56632" y="138074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x_telcom_outage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56632" y="1673352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Network outage tracking with severity, region and status.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2496312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496312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2551176"/>
            <a:ext cx="804672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2551176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extends Task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056632" y="25511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x_telcom_engineer_task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56632" y="2843784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Field engineer dispatch tasks linked to outages and complaints.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66674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666744"/>
            <a:ext cx="73152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3721608"/>
            <a:ext cx="804672" cy="201168"/>
          </a:xfrm>
          <a:prstGeom prst="rect">
            <a:avLst/>
          </a:prstGeom>
          <a:solidFill>
            <a:srgbClr val="90A0B7"/>
          </a:solidFill>
          <a:ln w="12700">
            <a:solidFill>
              <a:srgbClr val="90A0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3721608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extends None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56632" y="3721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x_telcom_customer_compensation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56632" y="4014216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Compensation requests (Bill Credit / Refund / Free Data).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Roles, Groups &amp; ACL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98448"/>
            <a:ext cx="109728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36245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x_telcom_ops.customer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16642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97B"/>
                </a:solidFill>
              </a:rPr>
              <a:t>Portal Access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29844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98448"/>
            <a:ext cx="10972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36245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x_telcom_ops.complaint_agent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93208" y="166420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</a:rPr>
              <a:t>Handle Complaints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395728"/>
            <a:ext cx="10972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45973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x_telcom_ops.network_engineer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7614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</a:rPr>
              <a:t>Manage Outages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39572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395728"/>
            <a:ext cx="10972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245973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x_telcom_ops.field_engineer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93208" y="276148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Resolve Engineer Tasks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49300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493008"/>
            <a:ext cx="109728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55701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x_telcom_ops.operations_manager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</a:rPr>
              <a:t>Approvals &amp; Dashboard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349300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493008"/>
            <a:ext cx="109728" cy="914400"/>
          </a:xfrm>
          <a:prstGeom prst="rect">
            <a:avLst/>
          </a:prstGeom>
          <a:solidFill>
            <a:srgbClr val="90A0B7"/>
          </a:solidFill>
          <a:ln w="12700">
            <a:solidFill>
              <a:srgbClr val="90A0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3208" y="355701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itil / admin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93208" y="385876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0B7"/>
                </a:solidFill>
              </a:rPr>
              <a:t>Incident Handling / Full Access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526280"/>
            <a:ext cx="813816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53712"/>
            <a:ext cx="7955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ACL 5 (Phase 4): Only the Operations Manager role can view and approve Compensation records — enforcing data privacy at record level.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FORMS &amp; 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Forms, Client Scripts &amp; UI Policies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73152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990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Complaint 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Fields: Customer, Type, Priority, Description, Assigned Agent. UI Policy hides Resolution Notes until State = Resolved.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478024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78024"/>
            <a:ext cx="73152" cy="9875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511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Network Outage Form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Fields: Region, Severity, Status. Client Script auto-sets Priority based on Severity selection.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63016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630168"/>
            <a:ext cx="73152" cy="9875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033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Engineer Task Form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99592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Fields: Outage reference, Assigned Engineer, Work Notes. Due Date locked via UI Policy unless manager role.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32588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325880"/>
            <a:ext cx="73152" cy="9875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3990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Compensation Request Form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16916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Fields: Type (Bill Credit/Refund/Free Data), Amount, Approval Status. Record Producer on Portal.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478024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478024"/>
            <a:ext cx="73152" cy="9875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55117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Customer Registration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74920" y="2843784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Record Producer on Portal: customers self-register creating a Customer Profile record automatically.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363016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630168"/>
            <a:ext cx="73152" cy="987552"/>
          </a:xfrm>
          <a:prstGeom prst="rect">
            <a:avLst/>
          </a:prstGeom>
          <a:solidFill>
            <a:srgbClr val="90A0B7"/>
          </a:solidFill>
          <a:ln w="12700">
            <a:solidFill>
              <a:srgbClr val="90A0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7033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</a:rPr>
              <a:t>Data Policies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74920" y="399592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Mandatory fields enforced at data level (not just UI) — ensuring integrity across API and form submissions.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AUTOMATION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Rules, Script Includes &amp; Flow Designer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Business Rules &amp; Script Includes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73152" cy="8961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824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Auto-Create Incident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956816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When Complaint Priority = High/Critical → auto-creates linked Incident record.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97480"/>
            <a:ext cx="73152" cy="8961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3405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Engineer Task Dispatch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008376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When Outage Status = Active → creates Engineer Task with assignment group.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8961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8561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Script Include (GlideAjax)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4059936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Reusable server-side logic for field calculations called by Client Scripts.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Flow Designer Automations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45920"/>
            <a:ext cx="73152" cy="896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68249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Complaint Resolution 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1956816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On Complaint closed → notify customer, update linked Incident.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97480"/>
            <a:ext cx="73152" cy="896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73405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Outage Management 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008376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On Outage created → trigger engineer task, send alerts to team.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749040"/>
            <a:ext cx="3931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749040"/>
            <a:ext cx="73152" cy="896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78561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Compensation Approval Flow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4059936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On Compensation submitted → notify manager for approval action.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SLA &amp; NOTIFICATIONS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Monitoring &amp; Email Notifications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SLA Definitions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64208"/>
            <a:ext cx="73152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19072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Complaint SLA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993392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Priority Critical: 4 hrs  |  High: 8 hrs  |  Medium: 24 hrs  |  Low: 72 hrs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73152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98064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Outage SLA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07238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Severity 1 (Critical): 2 hrs  |  Severity 2 (High): 6 hrs  |  Severity 3+: 24 hrs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22192"/>
            <a:ext cx="73152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77056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Engineer Task SLA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4151376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Task must be accepted within 1 hr, resolved within Due Date specified in outage.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Email Notifications &amp; Events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64208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17373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7373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1700784"/>
            <a:ext cx="34015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complaint.resolved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1938528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Sent to customer when complaint is marked Resolved.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54203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5420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2505456"/>
            <a:ext cx="34015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compensation.approved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274320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Sent to customer when Operations Manager approves compensation.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273552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28032" y="334670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3467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3310128"/>
            <a:ext cx="34015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outage.created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354787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Alert sent to Network Operations Team on new outage creation.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078224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415137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1513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4114800"/>
            <a:ext cx="34015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task.assigned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93792" y="4352544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Email to field engineer when a task is assigned to them.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SERVICE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Service Portal — Pages &amp; Record Producers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🏠  Home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Portal landing with navigation to all self-service options and announcements.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25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Customer Registration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0136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Record Producer: new customers fill profile form → x_telcom_customer_profile record created.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25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Raise a Complaint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80136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Record Producer: customer submits complaint → x_telcom_complaint created with Pending state.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632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Track My Complaint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3872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Service Catalog: customer views their open/closed complaints with status updates.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6324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0632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Compensation Request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53872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Record Producer: customer requests Bill Credit / Refund / Free Data — Approval Status = Pending.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63240"/>
            <a:ext cx="26517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632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Knowledge Base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538728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Self-help articles on common telecom issues, plan info, and service FAQs.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REPORTS &amp; 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Reports, KPIs &amp; Operations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98448"/>
            <a:ext cx="1874520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Complaints Tracked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98448"/>
            <a:ext cx="1874520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353312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75564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SLA Compliance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298448"/>
            <a:ext cx="1874520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353312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175564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Outages Resolved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298448"/>
            <a:ext cx="1874520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353312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75564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Engineer Tasks Closed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3957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Key Reports Included: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201168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7432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Complaint Volume by Priority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27432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Bar chart showing complaint count per priority level — identifies overloaded queues.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201168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191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SLA Breach Report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19125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Lists all records that breached SLA with breach time and responsible agent.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30752"/>
            <a:ext cx="201168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63931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Outage by Region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0" y="363931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Geographic heat-map style report showing outage frequency per region.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78808"/>
            <a:ext cx="201168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0873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Engineer Task Completion 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66160" y="40873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Pie chart of completed vs. pending vs. overdue engineer tasks.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626864"/>
            <a:ext cx="201168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5354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Customer Compensation Summary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66160" y="453542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Table report of all compensation requests grouped by type and approval status.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Demo — 6 Scenarios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1581912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Registration &amp; Portal Login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64008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2679192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Complaint Submission → Incident Auto-Creation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64008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776472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 Outage → Engineer Task Dispatch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32588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325880"/>
            <a:ext cx="640080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32588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41848" y="1581912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SLA Breach Detection &amp; Escalation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42316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423160"/>
            <a:ext cx="64008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42316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41848" y="2679192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 Resolution &amp; Outage Closure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52044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520440"/>
            <a:ext cx="640080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52044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41848" y="3776472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Compensation Request &amp; Manager Approval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3" name="HeaderText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— SCENARIO 1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AccentBar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5" name="SlideTitle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</a:rPr>
              <a:t>Scenario 1: Customer Registration &amp; Portal Login</a:t>
            </a:r>
            <a:endParaRPr lang="en-US" sz="2600" b="1" dirty="0">
              <a:solidFill>
                <a:srgbClr val="0D1B3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Subtitle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0B7"/>
                </a:solidFill>
              </a:rPr>
              <a:t>A new customer registers and gains portal access</a:t>
            </a:r>
            <a:endParaRPr lang="en-US" sz="1100" i="1" dirty="0">
              <a:solidFill>
                <a:srgbClr val="90A0B7"/>
              </a:solidFill>
            </a:endParaRPr>
          </a:p>
        </p:txBody>
      </p:sp>
      <p:sp>
        <p:nvSpPr>
          <p:cNvPr id="10" name="Card1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ircle1"/>
          <p:cNvSpPr/>
          <p:nvPr/>
        </p:nvSpPr>
        <p:spPr>
          <a:xfrm>
            <a:off x="530352" y="142646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12" name="Num1"/>
          <p:cNvSpPr/>
          <p:nvPr/>
        </p:nvSpPr>
        <p:spPr>
          <a:xfrm>
            <a:off x="53035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Main1"/>
          <p:cNvSpPr/>
          <p:nvPr/>
        </p:nvSpPr>
        <p:spPr>
          <a:xfrm>
            <a:off x="93268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Customer opens Service Portal and fills the Registration Record Producer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4" name="Sub1"/>
          <p:cNvSpPr/>
          <p:nvPr/>
        </p:nvSpPr>
        <p:spPr>
          <a:xfrm>
            <a:off x="93268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Portal Page · Customer Registration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15" name="Card2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ircle2"/>
          <p:cNvSpPr/>
          <p:nvPr/>
        </p:nvSpPr>
        <p:spPr>
          <a:xfrm>
            <a:off x="530352" y="204825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17" name="Num2"/>
          <p:cNvSpPr/>
          <p:nvPr/>
        </p:nvSpPr>
        <p:spPr>
          <a:xfrm>
            <a:off x="53035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8" name="Main2"/>
          <p:cNvSpPr/>
          <p:nvPr/>
        </p:nvSpPr>
        <p:spPr>
          <a:xfrm>
            <a:off x="93268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Mobile number validated by Client Script (min 10 digits, onSubmit)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9" name="Sub2"/>
          <p:cNvSpPr/>
          <p:nvPr/>
        </p:nvSpPr>
        <p:spPr>
          <a:xfrm>
            <a:off x="93268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Client Script 1 · onSubmit · Customer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0" name="Card3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ircle3"/>
          <p:cNvSpPr/>
          <p:nvPr/>
        </p:nvSpPr>
        <p:spPr>
          <a:xfrm>
            <a:off x="530352" y="267004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22" name="Num3"/>
          <p:cNvSpPr/>
          <p:nvPr/>
        </p:nvSpPr>
        <p:spPr>
          <a:xfrm>
            <a:off x="53035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3" name="Main3"/>
          <p:cNvSpPr/>
          <p:nvPr/>
        </p:nvSpPr>
        <p:spPr>
          <a:xfrm>
            <a:off x="93268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BR2 checks for duplicate mobile number before insert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4" name="Sub3"/>
          <p:cNvSpPr/>
          <p:nvPr/>
        </p:nvSpPr>
        <p:spPr>
          <a:xfrm>
            <a:off x="93268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Business Rule 2 · Before Insert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5" name="Card4"/>
          <p:cNvSpPr/>
          <p:nvPr/>
        </p:nvSpPr>
        <p:spPr>
          <a:xfrm>
            <a:off x="443484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Circle4"/>
          <p:cNvSpPr/>
          <p:nvPr/>
        </p:nvSpPr>
        <p:spPr>
          <a:xfrm>
            <a:off x="4507992" y="142646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27" name="Num4"/>
          <p:cNvSpPr/>
          <p:nvPr/>
        </p:nvSpPr>
        <p:spPr>
          <a:xfrm>
            <a:off x="450799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Main4"/>
          <p:cNvSpPr/>
          <p:nvPr/>
        </p:nvSpPr>
        <p:spPr>
          <a:xfrm>
            <a:off x="491032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BR1 automatically creates a sys_user with customer role and portal access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9" name="Sub4"/>
          <p:cNvSpPr/>
          <p:nvPr/>
        </p:nvSpPr>
        <p:spPr>
          <a:xfrm>
            <a:off x="491032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Business Rule 1 · After Insert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0" name="Card5"/>
          <p:cNvSpPr/>
          <p:nvPr/>
        </p:nvSpPr>
        <p:spPr>
          <a:xfrm>
            <a:off x="443484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ircle5"/>
          <p:cNvSpPr/>
          <p:nvPr/>
        </p:nvSpPr>
        <p:spPr>
          <a:xfrm>
            <a:off x="4507992" y="204825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32" name="Num5"/>
          <p:cNvSpPr/>
          <p:nvPr/>
        </p:nvSpPr>
        <p:spPr>
          <a:xfrm>
            <a:off x="450799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3" name="Main5"/>
          <p:cNvSpPr/>
          <p:nvPr/>
        </p:nvSpPr>
        <p:spPr>
          <a:xfrm>
            <a:off x="491032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Welcome email notification fires via customer.created event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4" name="Sub5"/>
          <p:cNvSpPr/>
          <p:nvPr/>
        </p:nvSpPr>
        <p:spPr>
          <a:xfrm>
            <a:off x="491032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Event: customer.created · Notification: Welcome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5" name="Card6"/>
          <p:cNvSpPr/>
          <p:nvPr/>
        </p:nvSpPr>
        <p:spPr>
          <a:xfrm>
            <a:off x="443484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Circle6"/>
          <p:cNvSpPr/>
          <p:nvPr/>
        </p:nvSpPr>
        <p:spPr>
          <a:xfrm>
            <a:off x="4507992" y="267004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37" name="Num6"/>
          <p:cNvSpPr/>
          <p:nvPr/>
        </p:nvSpPr>
        <p:spPr>
          <a:xfrm>
            <a:off x="450799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8" name="Main6"/>
          <p:cNvSpPr/>
          <p:nvPr/>
        </p:nvSpPr>
        <p:spPr>
          <a:xfrm>
            <a:off x="491032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Customer logs into portal and sees Home Page with quick links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9" name="Sub6"/>
          <p:cNvSpPr/>
          <p:nvPr/>
        </p:nvSpPr>
        <p:spPr>
          <a:xfrm>
            <a:off x="491032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Portal · Home Page</a:t>
            </a:r>
            <a:endParaRPr lang="en-US" sz="800" dirty="0">
              <a:solidFill>
                <a:srgbClr val="90A0B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3" name="HeaderText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— SCENARIO 2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AccentBar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5" name="SlideTitle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</a:rPr>
              <a:t>Scenario 2: Complaint Submission → Incident Creation</a:t>
            </a:r>
            <a:endParaRPr lang="en-US" sz="2600" b="1" dirty="0">
              <a:solidFill>
                <a:srgbClr val="0D1B3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Subtitle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0B7"/>
                </a:solidFill>
              </a:rPr>
              <a:t>Customer raises a complaint that auto-generates an incident</a:t>
            </a:r>
            <a:endParaRPr lang="en-US" sz="1100" i="1" dirty="0">
              <a:solidFill>
                <a:srgbClr val="90A0B7"/>
              </a:solidFill>
            </a:endParaRPr>
          </a:p>
        </p:txBody>
      </p:sp>
      <p:sp>
        <p:nvSpPr>
          <p:cNvPr id="10" name="Card1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ircle1"/>
          <p:cNvSpPr/>
          <p:nvPr/>
        </p:nvSpPr>
        <p:spPr>
          <a:xfrm>
            <a:off x="530352" y="1426464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12" name="Num1"/>
          <p:cNvSpPr/>
          <p:nvPr/>
        </p:nvSpPr>
        <p:spPr>
          <a:xfrm>
            <a:off x="53035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Main1"/>
          <p:cNvSpPr/>
          <p:nvPr/>
        </p:nvSpPr>
        <p:spPr>
          <a:xfrm>
            <a:off x="93268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Customer submits Raise Complaint Record Producer on Portal (type, area, impact, description)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4" name="Sub1"/>
          <p:cNvSpPr/>
          <p:nvPr/>
        </p:nvSpPr>
        <p:spPr>
          <a:xfrm>
            <a:off x="93268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Portal · Raise Complaint page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15" name="Card2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ircle2"/>
          <p:cNvSpPr/>
          <p:nvPr/>
        </p:nvSpPr>
        <p:spPr>
          <a:xfrm>
            <a:off x="530352" y="2048256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17" name="Num2"/>
          <p:cNvSpPr/>
          <p:nvPr/>
        </p:nvSpPr>
        <p:spPr>
          <a:xfrm>
            <a:off x="53035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8" name="Main2"/>
          <p:cNvSpPr/>
          <p:nvPr/>
        </p:nvSpPr>
        <p:spPr>
          <a:xfrm>
            <a:off x="93268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Client Script 2 auto-sets Priority based on Impact Level (Critical→1, High→2, Medium→3, Low→4)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9" name="Sub2"/>
          <p:cNvSpPr/>
          <p:nvPr/>
        </p:nvSpPr>
        <p:spPr>
          <a:xfrm>
            <a:off x="93268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Client Script 2 · onChange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0" name="Card3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ircle3"/>
          <p:cNvSpPr/>
          <p:nvPr/>
        </p:nvSpPr>
        <p:spPr>
          <a:xfrm>
            <a:off x="530352" y="2670048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22" name="Num3"/>
          <p:cNvSpPr/>
          <p:nvPr/>
        </p:nvSpPr>
        <p:spPr>
          <a:xfrm>
            <a:off x="53035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3" name="Main3"/>
          <p:cNvSpPr/>
          <p:nvPr/>
        </p:nvSpPr>
        <p:spPr>
          <a:xfrm>
            <a:off x="93268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UI Policy 1: if Impact = Critical, Escalation Comments field becomes mandatory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4" name="Sub3"/>
          <p:cNvSpPr/>
          <p:nvPr/>
        </p:nvSpPr>
        <p:spPr>
          <a:xfrm>
            <a:off x="93268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UI Policy 1 · Complaint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5" name="Card4"/>
          <p:cNvSpPr/>
          <p:nvPr/>
        </p:nvSpPr>
        <p:spPr>
          <a:xfrm>
            <a:off x="457200" y="319125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Circle4"/>
          <p:cNvSpPr/>
          <p:nvPr/>
        </p:nvSpPr>
        <p:spPr>
          <a:xfrm>
            <a:off x="530352" y="3291840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27" name="Num4"/>
          <p:cNvSpPr/>
          <p:nvPr/>
        </p:nvSpPr>
        <p:spPr>
          <a:xfrm>
            <a:off x="530352" y="32918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Main4"/>
          <p:cNvSpPr/>
          <p:nvPr/>
        </p:nvSpPr>
        <p:spPr>
          <a:xfrm>
            <a:off x="932688" y="3246120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BR3 auto-assigns Complaint to Complaint Resolution Team (Before Insert)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9" name="Sub4"/>
          <p:cNvSpPr/>
          <p:nvPr/>
        </p:nvSpPr>
        <p:spPr>
          <a:xfrm>
            <a:off x="932688" y="3483864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Business Rule 3 · Before Insert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0" name="Card5"/>
          <p:cNvSpPr/>
          <p:nvPr/>
        </p:nvSpPr>
        <p:spPr>
          <a:xfrm>
            <a:off x="443484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ircle5"/>
          <p:cNvSpPr/>
          <p:nvPr/>
        </p:nvSpPr>
        <p:spPr>
          <a:xfrm>
            <a:off x="4507992" y="1426464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32" name="Num5"/>
          <p:cNvSpPr/>
          <p:nvPr/>
        </p:nvSpPr>
        <p:spPr>
          <a:xfrm>
            <a:off x="450799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3" name="Main5"/>
          <p:cNvSpPr/>
          <p:nvPr/>
        </p:nvSpPr>
        <p:spPr>
          <a:xfrm>
            <a:off x="491032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BR4 automatically creates a linked Incident, copies complaint details, links back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4" name="Sub5"/>
          <p:cNvSpPr/>
          <p:nvPr/>
        </p:nvSpPr>
        <p:spPr>
          <a:xfrm>
            <a:off x="491032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Business Rule 4 · After Insert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5" name="Card6"/>
          <p:cNvSpPr/>
          <p:nvPr/>
        </p:nvSpPr>
        <p:spPr>
          <a:xfrm>
            <a:off x="443484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Circle6"/>
          <p:cNvSpPr/>
          <p:nvPr/>
        </p:nvSpPr>
        <p:spPr>
          <a:xfrm>
            <a:off x="4507992" y="2048256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37" name="Num6"/>
          <p:cNvSpPr/>
          <p:nvPr/>
        </p:nvSpPr>
        <p:spPr>
          <a:xfrm>
            <a:off x="450799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8" name="Main6"/>
          <p:cNvSpPr/>
          <p:nvPr/>
        </p:nvSpPr>
        <p:spPr>
          <a:xfrm>
            <a:off x="491032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SLA timer starts on the Complaint record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9" name="Sub6"/>
          <p:cNvSpPr/>
          <p:nvPr/>
        </p:nvSpPr>
        <p:spPr>
          <a:xfrm>
            <a:off x="491032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Phase 8 · SLA Configuration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40" name="Card7"/>
          <p:cNvSpPr/>
          <p:nvPr/>
        </p:nvSpPr>
        <p:spPr>
          <a:xfrm>
            <a:off x="443484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Circle7"/>
          <p:cNvSpPr/>
          <p:nvPr/>
        </p:nvSpPr>
        <p:spPr>
          <a:xfrm>
            <a:off x="4507992" y="2670048"/>
            <a:ext cx="329184" cy="3291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</a:ln>
        </p:spPr>
      </p:sp>
      <p:sp>
        <p:nvSpPr>
          <p:cNvPr id="42" name="Num7"/>
          <p:cNvSpPr/>
          <p:nvPr/>
        </p:nvSpPr>
        <p:spPr>
          <a:xfrm>
            <a:off x="450799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43" name="Main7"/>
          <p:cNvSpPr/>
          <p:nvPr/>
        </p:nvSpPr>
        <p:spPr>
          <a:xfrm>
            <a:off x="491032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Complaint Confirmation email sent; Incident Created notification fires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44" name="Sub7"/>
          <p:cNvSpPr/>
          <p:nvPr/>
        </p:nvSpPr>
        <p:spPr>
          <a:xfrm>
            <a:off x="491032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Events: complaint.created, incident.created</a:t>
            </a:r>
            <a:endParaRPr lang="en-US" sz="800" dirty="0">
              <a:solidFill>
                <a:srgbClr val="90A0B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3" name="HeaderText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— SCENARIO 3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AccentBar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5" name="SlideTitle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</a:rPr>
              <a:t>Scenario 3: Network Outage → Engineer Dispatch</a:t>
            </a:r>
            <a:endParaRPr lang="en-US" sz="2600" b="1" dirty="0">
              <a:solidFill>
                <a:srgbClr val="0D1B3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Subtitle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0B7"/>
                </a:solidFill>
              </a:rPr>
              <a:t>Agent logs an outage and a field engineer is auto-assigned</a:t>
            </a:r>
            <a:endParaRPr lang="en-US" sz="1100" i="1" dirty="0">
              <a:solidFill>
                <a:srgbClr val="90A0B7"/>
              </a:solidFill>
            </a:endParaRPr>
          </a:p>
        </p:txBody>
      </p:sp>
      <p:sp>
        <p:nvSpPr>
          <p:cNvPr id="10" name="Card1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ircle1"/>
          <p:cNvSpPr/>
          <p:nvPr/>
        </p:nvSpPr>
        <p:spPr>
          <a:xfrm>
            <a:off x="530352" y="1426464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12" name="Num1"/>
          <p:cNvSpPr/>
          <p:nvPr/>
        </p:nvSpPr>
        <p:spPr>
          <a:xfrm>
            <a:off x="53035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Main1"/>
          <p:cNvSpPr/>
          <p:nvPr/>
        </p:nvSpPr>
        <p:spPr>
          <a:xfrm>
            <a:off x="93268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Network Operations agent creates Network Outage record (type, area, severity, impacted customers)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4" name="Sub1"/>
          <p:cNvSpPr/>
          <p:nvPr/>
        </p:nvSpPr>
        <p:spPr>
          <a:xfrm>
            <a:off x="93268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Outage Table · x_telcom_network_outage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15" name="Card2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ircle2"/>
          <p:cNvSpPr/>
          <p:nvPr/>
        </p:nvSpPr>
        <p:spPr>
          <a:xfrm>
            <a:off x="530352" y="2048256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17" name="Num2"/>
          <p:cNvSpPr/>
          <p:nvPr/>
        </p:nvSpPr>
        <p:spPr>
          <a:xfrm>
            <a:off x="53035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8" name="Main2"/>
          <p:cNvSpPr/>
          <p:nvPr/>
        </p:nvSpPr>
        <p:spPr>
          <a:xfrm>
            <a:off x="93268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UI Policy 2: if Complaint Type = No Network, Related Outage field becomes mandatory on complaint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9" name="Sub2"/>
          <p:cNvSpPr/>
          <p:nvPr/>
        </p:nvSpPr>
        <p:spPr>
          <a:xfrm>
            <a:off x="93268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UI Policy 2 · Complaint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0" name="Card3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ircle3"/>
          <p:cNvSpPr/>
          <p:nvPr/>
        </p:nvSpPr>
        <p:spPr>
          <a:xfrm>
            <a:off x="530352" y="2670048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22" name="Num3"/>
          <p:cNvSpPr/>
          <p:nvPr/>
        </p:nvSpPr>
        <p:spPr>
          <a:xfrm>
            <a:off x="53035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3" name="Main3"/>
          <p:cNvSpPr/>
          <p:nvPr/>
        </p:nvSpPr>
        <p:spPr>
          <a:xfrm>
            <a:off x="93268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BR5 auto-creates a Field Engineer Task linked to the outage (After Insert)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4" name="Sub3"/>
          <p:cNvSpPr/>
          <p:nvPr/>
        </p:nvSpPr>
        <p:spPr>
          <a:xfrm>
            <a:off x="93268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Business Rule 5 · After Insert · Outage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5" name="Card4"/>
          <p:cNvSpPr/>
          <p:nvPr/>
        </p:nvSpPr>
        <p:spPr>
          <a:xfrm>
            <a:off x="443484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Circle4"/>
          <p:cNvSpPr/>
          <p:nvPr/>
        </p:nvSpPr>
        <p:spPr>
          <a:xfrm>
            <a:off x="4507992" y="1426464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27" name="Num4"/>
          <p:cNvSpPr/>
          <p:nvPr/>
        </p:nvSpPr>
        <p:spPr>
          <a:xfrm>
            <a:off x="450799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Main4"/>
          <p:cNvSpPr/>
          <p:nvPr/>
        </p:nvSpPr>
        <p:spPr>
          <a:xfrm>
            <a:off x="491032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Client Script 3 validates that Engineer field is not empty on task submission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9" name="Sub4"/>
          <p:cNvSpPr/>
          <p:nvPr/>
        </p:nvSpPr>
        <p:spPr>
          <a:xfrm>
            <a:off x="491032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Client Script 3 · onSubmit · Engineer Task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0" name="Card5"/>
          <p:cNvSpPr/>
          <p:nvPr/>
        </p:nvSpPr>
        <p:spPr>
          <a:xfrm>
            <a:off x="443484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ircle5"/>
          <p:cNvSpPr/>
          <p:nvPr/>
        </p:nvSpPr>
        <p:spPr>
          <a:xfrm>
            <a:off x="4507992" y="2048256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32" name="Num5"/>
          <p:cNvSpPr/>
          <p:nvPr/>
        </p:nvSpPr>
        <p:spPr>
          <a:xfrm>
            <a:off x="450799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3" name="Main5"/>
          <p:cNvSpPr/>
          <p:nvPr/>
        </p:nvSpPr>
        <p:spPr>
          <a:xfrm>
            <a:off x="491032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Outage Alert email fires; Engineer Assigned notification sent to engineer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4" name="Sub5"/>
          <p:cNvSpPr/>
          <p:nvPr/>
        </p:nvSpPr>
        <p:spPr>
          <a:xfrm>
            <a:off x="491032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Events: outage.created, engineer.assigned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5" name="Card6"/>
          <p:cNvSpPr/>
          <p:nvPr/>
        </p:nvSpPr>
        <p:spPr>
          <a:xfrm>
            <a:off x="443484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Circle6"/>
          <p:cNvSpPr/>
          <p:nvPr/>
        </p:nvSpPr>
        <p:spPr>
          <a:xfrm>
            <a:off x="4507992" y="2670048"/>
            <a:ext cx="329184" cy="32918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</a:ln>
        </p:spPr>
      </p:sp>
      <p:sp>
        <p:nvSpPr>
          <p:cNvPr id="37" name="Num6"/>
          <p:cNvSpPr/>
          <p:nvPr/>
        </p:nvSpPr>
        <p:spPr>
          <a:xfrm>
            <a:off x="450799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8" name="Main6"/>
          <p:cNvSpPr/>
          <p:nvPr/>
        </p:nvSpPr>
        <p:spPr>
          <a:xfrm>
            <a:off x="491032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Engineer updates status through: Assigned → Traveling → On Site → Work Completed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9" name="Sub6"/>
          <p:cNvSpPr/>
          <p:nvPr/>
        </p:nvSpPr>
        <p:spPr>
          <a:xfrm>
            <a:off x="491032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Engineer Task · Status field</a:t>
            </a:r>
            <a:endParaRPr lang="en-US" sz="800" dirty="0">
              <a:solidFill>
                <a:srgbClr val="90A0B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3" name="HeaderText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— SCENARIO 4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AccentBar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5" name="SlideTitle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</a:rPr>
              <a:t>Scenario 4: Outage Resolution &amp; Complaint Closure</a:t>
            </a:r>
            <a:endParaRPr lang="en-US" sz="2600" b="1" dirty="0">
              <a:solidFill>
                <a:srgbClr val="0D1B3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Subtitle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0B7"/>
                </a:solidFill>
              </a:rPr>
              <a:t>Engineer resolves outage; complaint and incident are closed</a:t>
            </a:r>
            <a:endParaRPr lang="en-US" sz="1100" i="1" dirty="0">
              <a:solidFill>
                <a:srgbClr val="90A0B7"/>
              </a:solidFill>
            </a:endParaRPr>
          </a:p>
        </p:txBody>
      </p:sp>
      <p:sp>
        <p:nvSpPr>
          <p:cNvPr id="10" name="Card1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ircle1"/>
          <p:cNvSpPr/>
          <p:nvPr/>
        </p:nvSpPr>
        <p:spPr>
          <a:xfrm>
            <a:off x="530352" y="1426464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12" name="Num1"/>
          <p:cNvSpPr/>
          <p:nvPr/>
        </p:nvSpPr>
        <p:spPr>
          <a:xfrm>
            <a:off x="53035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Main1"/>
          <p:cNvSpPr/>
          <p:nvPr/>
        </p:nvSpPr>
        <p:spPr>
          <a:xfrm>
            <a:off x="93268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Engineer marks task Work Completed and adds Resolution Notes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4" name="Sub1"/>
          <p:cNvSpPr/>
          <p:nvPr/>
        </p:nvSpPr>
        <p:spPr>
          <a:xfrm>
            <a:off x="93268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Engineer Task · Work Completed status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15" name="Card2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ircle2"/>
          <p:cNvSpPr/>
          <p:nvPr/>
        </p:nvSpPr>
        <p:spPr>
          <a:xfrm>
            <a:off x="530352" y="2048256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17" name="Num2"/>
          <p:cNvSpPr/>
          <p:nvPr/>
        </p:nvSpPr>
        <p:spPr>
          <a:xfrm>
            <a:off x="53035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8" name="Main2"/>
          <p:cNvSpPr/>
          <p:nvPr/>
        </p:nvSpPr>
        <p:spPr>
          <a:xfrm>
            <a:off x="93268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Flow Designer automation detects task completion and updates Outage Status to Resolved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9" name="Sub2"/>
          <p:cNvSpPr/>
          <p:nvPr/>
        </p:nvSpPr>
        <p:spPr>
          <a:xfrm>
            <a:off x="93268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Phase 7 · Flow Designer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0" name="Card3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ircle3"/>
          <p:cNvSpPr/>
          <p:nvPr/>
        </p:nvSpPr>
        <p:spPr>
          <a:xfrm>
            <a:off x="530352" y="2670048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22" name="Num3"/>
          <p:cNvSpPr/>
          <p:nvPr/>
        </p:nvSpPr>
        <p:spPr>
          <a:xfrm>
            <a:off x="53035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3" name="Main3"/>
          <p:cNvSpPr/>
          <p:nvPr/>
        </p:nvSpPr>
        <p:spPr>
          <a:xfrm>
            <a:off x="93268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Linked Incident is resolved; Complaint agent reviews and closes the Complaint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4" name="Sub3"/>
          <p:cNvSpPr/>
          <p:nvPr/>
        </p:nvSpPr>
        <p:spPr>
          <a:xfrm>
            <a:off x="93268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Incident → Complaint chain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5" name="Card4"/>
          <p:cNvSpPr/>
          <p:nvPr/>
        </p:nvSpPr>
        <p:spPr>
          <a:xfrm>
            <a:off x="443484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Circle4"/>
          <p:cNvSpPr/>
          <p:nvPr/>
        </p:nvSpPr>
        <p:spPr>
          <a:xfrm>
            <a:off x="4507992" y="1426464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27" name="Num4"/>
          <p:cNvSpPr/>
          <p:nvPr/>
        </p:nvSpPr>
        <p:spPr>
          <a:xfrm>
            <a:off x="450799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Main4"/>
          <p:cNvSpPr/>
          <p:nvPr/>
        </p:nvSpPr>
        <p:spPr>
          <a:xfrm>
            <a:off x="491032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SLA clock stops; Dashboard updates Active Outages KPI and Complaint Trend chart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9" name="Sub4"/>
          <p:cNvSpPr/>
          <p:nvPr/>
        </p:nvSpPr>
        <p:spPr>
          <a:xfrm>
            <a:off x="491032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Phase 8 SLA + Phase 10 Dashboard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0" name="Card5"/>
          <p:cNvSpPr/>
          <p:nvPr/>
        </p:nvSpPr>
        <p:spPr>
          <a:xfrm>
            <a:off x="443484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ircle5"/>
          <p:cNvSpPr/>
          <p:nvPr/>
        </p:nvSpPr>
        <p:spPr>
          <a:xfrm>
            <a:off x="4507992" y="2048256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</p:sp>
      <p:sp>
        <p:nvSpPr>
          <p:cNvPr id="32" name="Num5"/>
          <p:cNvSpPr/>
          <p:nvPr/>
        </p:nvSpPr>
        <p:spPr>
          <a:xfrm>
            <a:off x="450799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3" name="Main5"/>
          <p:cNvSpPr/>
          <p:nvPr/>
        </p:nvSpPr>
        <p:spPr>
          <a:xfrm>
            <a:off x="491032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Customer views updated complaint status in My Complaints portal page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4" name="Sub5"/>
          <p:cNvSpPr/>
          <p:nvPr/>
        </p:nvSpPr>
        <p:spPr>
          <a:xfrm>
            <a:off x="491032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Portal · My Complaints · Data Table widget</a:t>
            </a:r>
            <a:endParaRPr lang="en-US" sz="800" dirty="0">
              <a:solidFill>
                <a:srgbClr val="90A0B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3" name="HeaderText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— SCENARIO 5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AccentBar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5" name="SlideTitle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</a:rPr>
              <a:t>Scenario 5: SLA - Resolution</a:t>
            </a:r>
            <a:endParaRPr lang="en-US" sz="2600" b="1" dirty="0">
              <a:solidFill>
                <a:srgbClr val="0D1B3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Subtitle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90A0B7"/>
              </a:solidFill>
            </a:endParaRPr>
          </a:p>
        </p:txBody>
      </p:sp>
      <p:sp>
        <p:nvSpPr>
          <p:cNvPr id="10" name="Card1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ircle1"/>
          <p:cNvSpPr/>
          <p:nvPr/>
        </p:nvSpPr>
        <p:spPr>
          <a:xfrm>
            <a:off x="530352" y="1426464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12" name="Num1"/>
          <p:cNvSpPr/>
          <p:nvPr/>
        </p:nvSpPr>
        <p:spPr>
          <a:xfrm>
            <a:off x="53035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Main1"/>
          <p:cNvSpPr/>
          <p:nvPr/>
        </p:nvSpPr>
        <p:spPr>
          <a:xfrm>
            <a:off x="93268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4 Resolution Complaint SLAs 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4" name="Sub1"/>
          <p:cNvSpPr/>
          <p:nvPr/>
        </p:nvSpPr>
        <p:spPr>
          <a:xfrm>
            <a:off x="93268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SLA Definition · Complaint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15" name="Card2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ircle2"/>
          <p:cNvSpPr/>
          <p:nvPr/>
        </p:nvSpPr>
        <p:spPr>
          <a:xfrm>
            <a:off x="530352" y="2048256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17" name="Num2"/>
          <p:cNvSpPr/>
          <p:nvPr/>
        </p:nvSpPr>
        <p:spPr>
          <a:xfrm>
            <a:off x="53035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8" name="Main2"/>
          <p:cNvSpPr/>
          <p:nvPr/>
        </p:nvSpPr>
        <p:spPr>
          <a:xfrm>
            <a:off x="93268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sym typeface="+mn-ea"/>
              </a:rPr>
              <a:t>4 Outage SLAs 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9" name="Sub2"/>
          <p:cNvSpPr/>
          <p:nvPr/>
        </p:nvSpPr>
        <p:spPr>
          <a:xfrm>
            <a:off x="93268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  <a:sym typeface="+mn-ea"/>
              </a:rPr>
              <a:t>SLA Definition · Outage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0" name="Card3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ircle3"/>
          <p:cNvSpPr/>
          <p:nvPr/>
        </p:nvSpPr>
        <p:spPr>
          <a:xfrm>
            <a:off x="530352" y="2670048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22" name="Num3"/>
          <p:cNvSpPr/>
          <p:nvPr/>
        </p:nvSpPr>
        <p:spPr>
          <a:xfrm>
            <a:off x="53035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3" name="Main3"/>
          <p:cNvSpPr/>
          <p:nvPr/>
        </p:nvSpPr>
        <p:spPr>
          <a:xfrm>
            <a:off x="93268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SLA Breach recorded in Task SLA table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4" name="Sub3"/>
          <p:cNvSpPr/>
          <p:nvPr/>
        </p:nvSpPr>
        <p:spPr>
          <a:xfrm>
            <a:off x="93268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Task SLA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5" name="Card4"/>
          <p:cNvSpPr/>
          <p:nvPr/>
        </p:nvSpPr>
        <p:spPr>
          <a:xfrm>
            <a:off x="443484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Circle4"/>
          <p:cNvSpPr/>
          <p:nvPr/>
        </p:nvSpPr>
        <p:spPr>
          <a:xfrm>
            <a:off x="4507992" y="1426464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27" name="Num4"/>
          <p:cNvSpPr/>
          <p:nvPr/>
        </p:nvSpPr>
        <p:spPr>
          <a:xfrm>
            <a:off x="450799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Main4"/>
          <p:cNvSpPr/>
          <p:nvPr/>
        </p:nvSpPr>
        <p:spPr>
          <a:xfrm>
            <a:off x="491032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Dashboard Widget 3 (SLA Breaches Bar Chart) and SLA Breach Report List update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9" name="Sub4"/>
          <p:cNvSpPr/>
          <p:nvPr/>
        </p:nvSpPr>
        <p:spPr>
          <a:xfrm>
            <a:off x="491032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Phase 10 · Reports &amp; Dashboard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0" name="Card5"/>
          <p:cNvSpPr/>
          <p:nvPr/>
        </p:nvSpPr>
        <p:spPr>
          <a:xfrm>
            <a:off x="443484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ircle5"/>
          <p:cNvSpPr/>
          <p:nvPr/>
        </p:nvSpPr>
        <p:spPr>
          <a:xfrm>
            <a:off x="4507992" y="2048256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</a:ln>
        </p:spPr>
      </p:sp>
      <p:sp>
        <p:nvSpPr>
          <p:cNvPr id="32" name="Num5"/>
          <p:cNvSpPr/>
          <p:nvPr/>
        </p:nvSpPr>
        <p:spPr>
          <a:xfrm>
            <a:off x="450799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3" name="Main5"/>
          <p:cNvSpPr/>
          <p:nvPr/>
        </p:nvSpPr>
        <p:spPr>
          <a:xfrm>
            <a:off x="491032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Operations Manager reviews breaches via Telecom Operations Dashboard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4" name="Sub5"/>
          <p:cNvSpPr/>
          <p:nvPr/>
        </p:nvSpPr>
        <p:spPr>
          <a:xfrm>
            <a:off x="491032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Dashboard · KPI monitoring</a:t>
            </a:r>
            <a:endParaRPr lang="en-US" sz="800" dirty="0">
              <a:solidFill>
                <a:srgbClr val="90A0B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3" name="HeaderText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DEMO — SCENARIO 6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AccentBar"/>
          <p:cNvSpPr/>
          <p:nvPr/>
        </p:nvSpPr>
        <p:spPr>
          <a:xfrm>
            <a:off x="365760" y="548640"/>
            <a:ext cx="64008" cy="3840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5" name="SlideTitle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anose="020F0502020204030204" pitchFamily="34" charset="0"/>
              </a:rPr>
              <a:t>Scenario 6: Customer Compensation Request</a:t>
            </a:r>
            <a:endParaRPr lang="en-US" sz="2600" b="1" dirty="0">
              <a:solidFill>
                <a:srgbClr val="0D1B3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Subtitle"/>
          <p:cNvSpPr/>
          <p:nvPr/>
        </p:nvSpPr>
        <p:spPr>
          <a:xfrm>
            <a:off x="548640" y="1024128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0B7"/>
                </a:solidFill>
              </a:rPr>
              <a:t>Customer requests compensation; manager approves and notification fires</a:t>
            </a:r>
            <a:endParaRPr lang="en-US" sz="1100" i="1" dirty="0">
              <a:solidFill>
                <a:srgbClr val="90A0B7"/>
              </a:solidFill>
            </a:endParaRPr>
          </a:p>
        </p:txBody>
      </p:sp>
      <p:sp>
        <p:nvSpPr>
          <p:cNvPr id="10" name="Card1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ircle1"/>
          <p:cNvSpPr/>
          <p:nvPr/>
        </p:nvSpPr>
        <p:spPr>
          <a:xfrm>
            <a:off x="530352" y="142646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12" name="Num1"/>
          <p:cNvSpPr/>
          <p:nvPr/>
        </p:nvSpPr>
        <p:spPr>
          <a:xfrm>
            <a:off x="53035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3" name="Main1"/>
          <p:cNvSpPr/>
          <p:nvPr/>
        </p:nvSpPr>
        <p:spPr>
          <a:xfrm>
            <a:off x="93268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Customer submits Compensation Request Record Producer on Portal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4" name="Sub1"/>
          <p:cNvSpPr/>
          <p:nvPr/>
        </p:nvSpPr>
        <p:spPr>
          <a:xfrm>
            <a:off x="93268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Portal · Compensation Request page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15" name="Card2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Circle2"/>
          <p:cNvSpPr/>
          <p:nvPr/>
        </p:nvSpPr>
        <p:spPr>
          <a:xfrm>
            <a:off x="530352" y="204825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17" name="Num2"/>
          <p:cNvSpPr/>
          <p:nvPr/>
        </p:nvSpPr>
        <p:spPr>
          <a:xfrm>
            <a:off x="53035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18" name="Main2"/>
          <p:cNvSpPr/>
          <p:nvPr/>
        </p:nvSpPr>
        <p:spPr>
          <a:xfrm>
            <a:off x="93268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Compensation record created (Bill Credit / Refund / Free Data) — Approval Status = Pending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19" name="Sub2"/>
          <p:cNvSpPr/>
          <p:nvPr/>
        </p:nvSpPr>
        <p:spPr>
          <a:xfrm>
            <a:off x="93268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x_telcom_customer_compensation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0" name="Card3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ircle3"/>
          <p:cNvSpPr/>
          <p:nvPr/>
        </p:nvSpPr>
        <p:spPr>
          <a:xfrm>
            <a:off x="530352" y="267004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22" name="Num3"/>
          <p:cNvSpPr/>
          <p:nvPr/>
        </p:nvSpPr>
        <p:spPr>
          <a:xfrm>
            <a:off x="530352" y="26700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3" name="Main3"/>
          <p:cNvSpPr/>
          <p:nvPr/>
        </p:nvSpPr>
        <p:spPr>
          <a:xfrm>
            <a:off x="932688" y="262432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ACL 5 restricts access — only Operations Manager can view and approve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4" name="Sub3"/>
          <p:cNvSpPr/>
          <p:nvPr/>
        </p:nvSpPr>
        <p:spPr>
          <a:xfrm>
            <a:off x="932688" y="2862072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Phase 4 · ACL 5 · Compensation table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25" name="Card4"/>
          <p:cNvSpPr/>
          <p:nvPr/>
        </p:nvSpPr>
        <p:spPr>
          <a:xfrm>
            <a:off x="4434840" y="1325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Circle4"/>
          <p:cNvSpPr/>
          <p:nvPr/>
        </p:nvSpPr>
        <p:spPr>
          <a:xfrm>
            <a:off x="4507992" y="142646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27" name="Num4"/>
          <p:cNvSpPr/>
          <p:nvPr/>
        </p:nvSpPr>
        <p:spPr>
          <a:xfrm>
            <a:off x="4507992" y="1426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28" name="Main4"/>
          <p:cNvSpPr/>
          <p:nvPr/>
        </p:nvSpPr>
        <p:spPr>
          <a:xfrm>
            <a:off x="4910328" y="1380744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Manager approves or rejects; Approval Status field updated accordingly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29" name="Sub4"/>
          <p:cNvSpPr/>
          <p:nvPr/>
        </p:nvSpPr>
        <p:spPr>
          <a:xfrm>
            <a:off x="4910328" y="1618488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Compensation table · Approval Status field</a:t>
            </a:r>
            <a:endParaRPr lang="en-US" sz="800" dirty="0">
              <a:solidFill>
                <a:srgbClr val="90A0B7"/>
              </a:solidFill>
            </a:endParaRPr>
          </a:p>
        </p:txBody>
      </p:sp>
      <p:sp>
        <p:nvSpPr>
          <p:cNvPr id="30" name="Card5"/>
          <p:cNvSpPr/>
          <p:nvPr/>
        </p:nvSpPr>
        <p:spPr>
          <a:xfrm>
            <a:off x="4434840" y="194767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ircle5"/>
          <p:cNvSpPr/>
          <p:nvPr/>
        </p:nvSpPr>
        <p:spPr>
          <a:xfrm>
            <a:off x="4507992" y="204825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</p:sp>
      <p:sp>
        <p:nvSpPr>
          <p:cNvPr id="32" name="Num5"/>
          <p:cNvSpPr/>
          <p:nvPr/>
        </p:nvSpPr>
        <p:spPr>
          <a:xfrm>
            <a:off x="4507992" y="2048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b="1" dirty="0">
              <a:solidFill>
                <a:srgbClr val="FFFFFF"/>
              </a:solidFill>
            </a:endParaRPr>
          </a:p>
        </p:txBody>
      </p:sp>
      <p:sp>
        <p:nvSpPr>
          <p:cNvPr id="33" name="Main5"/>
          <p:cNvSpPr/>
          <p:nvPr/>
        </p:nvSpPr>
        <p:spPr>
          <a:xfrm>
            <a:off x="4910328" y="2002536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Compensation Approved email fires via compensation.approved event</a:t>
            </a:r>
            <a:endParaRPr lang="en-US" sz="950" b="1" dirty="0">
              <a:solidFill>
                <a:srgbClr val="0D1B3E"/>
              </a:solidFill>
            </a:endParaRPr>
          </a:p>
        </p:txBody>
      </p:sp>
      <p:sp>
        <p:nvSpPr>
          <p:cNvPr id="34" name="Sub5"/>
          <p:cNvSpPr/>
          <p:nvPr/>
        </p:nvSpPr>
        <p:spPr>
          <a:xfrm>
            <a:off x="4910328" y="224028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0B7"/>
                </a:solidFill>
              </a:rPr>
              <a:t>Event: compensation.approved · Notification</a:t>
            </a:r>
            <a:endParaRPr lang="en-US" sz="800" dirty="0">
              <a:solidFill>
                <a:srgbClr val="90A0B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Achievements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43560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356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3898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Full Scoped Application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167335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2EE"/>
                </a:solidFill>
              </a:rPr>
              <a:t>Built and deployed x_telcom_ops as a complete ServiceNow scoped application covering 8+ modules.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53288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328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8716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End-to-End Automation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77063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2EE"/>
                </a:solidFill>
              </a:rPr>
              <a:t>Automated complaint lifecycle, outage management, engineer dispatch, and notifications with Flow Designer.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63016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6301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5844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Secure Multi-Role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386791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2EE"/>
                </a:solidFill>
              </a:rPr>
              <a:t>Implemented 6 roles, 6 groups, and multiple ACLs ensuring correct data access across all user types.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32588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01768" y="143560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14356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3898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Customer Self-Service Portal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40680" y="167335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2EE"/>
                </a:solidFill>
              </a:rPr>
              <a:t>Delivered a fully functional Service Portal enabling customer registration, complaints, and compensation requests.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42316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01768" y="253288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25328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48716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Real-Time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0680" y="277063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2EE"/>
                </a:solidFill>
              </a:rPr>
              <a:t>Created KPI reports and operations dashboard giving managers instant visibility into system health.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3520440"/>
            <a:ext cx="4206240" cy="914400"/>
          </a:xfrm>
          <a:prstGeom prst="rect">
            <a:avLst/>
          </a:prstGeom>
          <a:solidFill>
            <a:srgbClr val="0D2A52"/>
          </a:solidFill>
          <a:ln w="12700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01768" y="3630168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36301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5844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</a:rPr>
              <a:t>11-Phase Project Delivery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40680" y="386791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D2EE"/>
                </a:solidFill>
              </a:rPr>
              <a:t>Successfully completed all 11 build phases: Setup → Data Model → Forms → Security → Scripts → Automation → SLA → Portal → Dashboard → Demo.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52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5F0"/>
                </a:solidFill>
              </a:rPr>
              <a:t>Abdelrahman Magdy Abdelwahed   •   Fatma El-Zahraa Ahmed   •   Marvy Adel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5F0"/>
                </a:solidFill>
              </a:rPr>
              <a:t>Nada Saad   •   Makrina Emad   •   Myriam Fayez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</a:rPr>
              <a:t>Enterprise Telecom Operations Management Platform  |  ServiceNow PDI  |  Faculty of Computers &amp; Information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12316</Words>
  <Application>WPS Presentation</Application>
  <PresentationFormat>On-screen Show (16:9)</PresentationFormat>
  <Paragraphs>732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Telecom Operations Management</dc:title>
  <dc:creator>Graduation Project Team</dc:creator>
  <dc:subject>PptxGenJS Presentation</dc:subject>
  <cp:lastModifiedBy>Fatma El Zahraa Ahmed</cp:lastModifiedBy>
  <cp:revision>3</cp:revision>
  <dcterms:created xsi:type="dcterms:W3CDTF">2026-05-20T21:29:00Z</dcterms:created>
  <dcterms:modified xsi:type="dcterms:W3CDTF">2026-05-21T05:30:55Z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634BE480250C417E9C82148EDDF59018_12</vt:lpwstr>
  </property>
</Properties>
</file>